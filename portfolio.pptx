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customXml" Target="../customXml/item3.xml"/><Relationship Id="rId7" Type="http://schemas.openxmlformats.org/officeDocument/2006/relationships/slide" Target="slides/slide1.xml"/><Relationship Id="rId2" Type="http://schemas.openxmlformats.org/officeDocument/2006/relationships/printerSettings" Target="printerSettings/printerSettings1.bin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customXml" Target="../customXml/item1.xml"/><Relationship Id="rId5" Type="http://schemas.openxmlformats.org/officeDocument/2006/relationships/theme" Target="theme/theme1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8" Type="http://schemas.openxmlformats.org/officeDocument/2006/relationships/slide" Target="slides/slide2.xml"/><Relationship Id="rId3" Type="http://schemas.openxmlformats.org/officeDocument/2006/relationships/presProps" Target="presProps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customXml" Target="../customXml/item2.xml"/><Relationship Id="rId20" Type="http://schemas.openxmlformats.org/officeDocument/2006/relationships/slide" Target="slides/slide1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5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5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7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34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image" Target="../media/image38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image" Target="../media/image5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image" Target="../media/image4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3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image" Target="../media/image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  <a:ln w="19050">
            <a:solidFill>
              <a:srgbClr val="CB9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188720"/>
            <a:ext cx="2560320" cy="411480"/>
          </a:xfrm>
          <a:prstGeom prst="round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  <a:latin typeface="Montserrat"/>
              </a:defRPr>
            </a:pPr>
            <a:r>
              <a:t>EXECUTIVE BI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Portfólio de Business Intelligence</a:t>
            </a:r>
          </a:p>
          <a:p>
            <a:pPr>
              <a:defRPr sz="2800" b="1">
                <a:solidFill>
                  <a:srgbClr val="CB9727"/>
                </a:solidFill>
                <a:latin typeface="Montserrat"/>
              </a:defRPr>
            </a:pPr>
            <a:r>
              <a:t>&amp; Soluções Analíticas de Alta Performance</a:t>
            </a:r>
          </a:p>
          <a:p>
            <a:pPr>
              <a:spcBef>
                <a:spcPts val="1400"/>
              </a:spcBef>
              <a:defRPr sz="1400">
                <a:solidFill>
                  <a:srgbClr val="A0A6AF"/>
                </a:solidFill>
                <a:latin typeface="Montserrat"/>
              </a:defRPr>
            </a:pPr>
            <a:r>
              <a:t>Catálogo executivo de dashboards em Power BI e aplicações Fullstack Python conectadas a ERPs.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3931920"/>
            <a:ext cx="2194560" cy="100584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D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CB9727"/>
                </a:solidFill>
                <a:latin typeface="Montserrat"/>
              </a:defRPr>
            </a:pPr>
            <a:r>
              <a:t>66+</a:t>
            </a:r>
          </a:p>
          <a:p>
            <a:pPr algn="ctr">
              <a:defRPr sz="900" b="1">
                <a:solidFill>
                  <a:srgbClr val="A0A6AF"/>
                </a:solidFill>
                <a:latin typeface="Montserrat"/>
              </a:defRPr>
            </a:pPr>
            <a:r>
              <a:t>Dashboards Criados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3931920"/>
            <a:ext cx="2194560" cy="100584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D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CB9727"/>
                </a:solidFill>
                <a:latin typeface="Montserrat"/>
              </a:defRPr>
            </a:pPr>
            <a:r>
              <a:t>13</a:t>
            </a:r>
          </a:p>
          <a:p>
            <a:pPr algn="ctr">
              <a:defRPr sz="900" b="1">
                <a:solidFill>
                  <a:srgbClr val="A0A6AF"/>
                </a:solidFill>
                <a:latin typeface="Montserrat"/>
              </a:defRPr>
            </a:pPr>
            <a:r>
              <a:t>Áreas Corporativas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2194560" cy="100584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D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CB9727"/>
                </a:solidFill>
                <a:latin typeface="Montserrat"/>
              </a:defRPr>
            </a:pPr>
            <a:r>
              <a:t>100%</a:t>
            </a:r>
          </a:p>
          <a:p>
            <a:pPr algn="ctr">
              <a:defRPr sz="900" b="1">
                <a:solidFill>
                  <a:srgbClr val="A0A6AF"/>
                </a:solidFill>
                <a:latin typeface="Montserrat"/>
              </a:defRPr>
            </a:pPr>
            <a:r>
              <a:t>Automação Real-time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3931920"/>
            <a:ext cx="2194560" cy="100584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D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CB9727"/>
                </a:solidFill>
                <a:latin typeface="Montserrat"/>
              </a:defRPr>
            </a:pPr>
            <a:r>
              <a:t>0</a:t>
            </a:r>
          </a:p>
          <a:p>
            <a:pPr algn="ctr">
              <a:defRPr sz="900" b="1">
                <a:solidFill>
                  <a:srgbClr val="A0A6AF"/>
                </a:solidFill>
                <a:latin typeface="Montserrat"/>
              </a:defRPr>
            </a:pPr>
            <a:r>
              <a:t>Custo Licença em Web Apps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12064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Anderson Mello  |  Especialista em BI &amp; Engenharia de Dados</a:t>
            </a:r>
          </a:p>
          <a:p>
            <a:pPr>
              <a:defRPr sz="1000">
                <a:solidFill>
                  <a:srgbClr val="E5B74B"/>
                </a:solidFill>
                <a:latin typeface="Montserrat"/>
              </a:defRPr>
            </a:pPr>
            <a:r>
              <a:t>E-mail: acmello.106@gmail.com   •   São Paulo, SP   •   Power BI • DAX • SQL • Python • Oracle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36576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PERFIL PROFISSIONAL &amp; ARQUITETURA TÉCNICA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A1C21"/>
          </a:solidFill>
          <a:ln w="19050">
            <a:solidFill>
              <a:srgbClr val="CB9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defRPr sz="1200" b="1">
                <a:solidFill>
                  <a:srgbClr val="CB9727"/>
                </a:solidFill>
                <a:latin typeface="Montserrat"/>
              </a:defRPr>
            </a:pPr>
            <a:r>
              <a:t>MODELAGEM &amp; BUSINESS INTELLIGENCE</a:t>
            </a:r>
          </a:p>
          <a:p>
            <a:pPr>
              <a:spcBef>
                <a:spcPts val="1200"/>
              </a:spcBef>
              <a:defRPr sz="1000">
                <a:solidFill>
                  <a:srgbClr val="A0A6AF"/>
                </a:solidFill>
                <a:latin typeface="Montserrat"/>
              </a:defRPr>
            </a:pPr>
            <a:r>
              <a:t>• Criação de Data Warehouses corporativos sob metodologia dimensional Star Schema (Fatos e Dimensões).</a:t>
            </a:r>
            <a:br/>
            <a:r>
              <a:t>• Fórmulas analíticas complexas com DAX Avançado, Time Intelligence e otimização VertiPaq.</a:t>
            </a:r>
            <a:br/>
            <a:r>
              <a:t>• Governança de dados de ponta a ponta com Row-Level Security (RLS) dinâmico por perfil e departamento.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8264" y="1645920"/>
            <a:ext cx="3383280" cy="438912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D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defRPr sz="1200" b="1">
                <a:solidFill>
                  <a:srgbClr val="CB9727"/>
                </a:solidFill>
                <a:latin typeface="Montserrat"/>
              </a:defRPr>
            </a:pPr>
            <a:r>
              <a:t>ENGENHARIA &amp; FULLSTACK ANALYTICS</a:t>
            </a:r>
          </a:p>
          <a:p>
            <a:pPr>
              <a:spcBef>
                <a:spcPts val="1200"/>
              </a:spcBef>
              <a:defRPr sz="1000">
                <a:solidFill>
                  <a:srgbClr val="A0A6AF"/>
                </a:solidFill>
                <a:latin typeface="Montserrat"/>
              </a:defRPr>
            </a:pPr>
            <a:r>
              <a:t>• Desenvolvimento de Cockpits e Portais Web em Python (Flask) integrados nativamente ao Oracle ERP Sankhya e MariaDB.</a:t>
            </a:r>
            <a:br/>
            <a:r>
              <a:t>• Automação total de pipelines de dados, dispensando licenciamentos por usuário em telas operacionais de chão e TV.</a:t>
            </a:r>
            <a:br/>
            <a:r>
              <a:t>• Painéis de alta disponibilidade com atualização em tempo real para TV de diretoria e equipes.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5008" y="1645920"/>
            <a:ext cx="3383280" cy="438912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D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defRPr sz="1200" b="1">
                <a:solidFill>
                  <a:srgbClr val="CB9727"/>
                </a:solidFill>
                <a:latin typeface="Montserrat"/>
              </a:defRPr>
            </a:pPr>
            <a:r>
              <a:t>IMPACTO &amp; VISÃO DE NEGÓCIO</a:t>
            </a:r>
          </a:p>
          <a:p>
            <a:pPr>
              <a:spcBef>
                <a:spcPts val="1200"/>
              </a:spcBef>
              <a:defRPr sz="1000">
                <a:solidFill>
                  <a:srgbClr val="A0A6AF"/>
                </a:solidFill>
                <a:latin typeface="Montserrat"/>
              </a:defRPr>
            </a:pPr>
            <a:r>
              <a:t>• Atuação direta com Diretores Executivos e Gerências para traduzir desafios operacionais em KPIs de tomada de ação.</a:t>
            </a:r>
            <a:br/>
            <a:r>
              <a:t>• Redução expressiva de ruptura de estoque através de módulos inteligentes de Demanda &amp; Reabastecimento.</a:t>
            </a:r>
            <a:br/>
            <a:r>
              <a:t>• Acompanhamento diário consolidado de DRE Gerencial, Comissões e Indicadores Financeiros/Vendas.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ASSISTÊNCIA TÉCNICA &amp; SAC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43_dir__assistec__dashboard_forecast_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[Assistência Técnica &amp; SAC]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ASSISTEC. DASHBOARD FORECAST SPARE_PARTS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PrevisÃ£o de demanda futura de peÃ§as sobressalentes e reposiÃ§Ã£o (Spare Parts).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24_dre_assistencia_tecnica___sac_-_g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[Assistência Técnica &amp; SAC]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Assistencia Tecnica &amp; SAC - GestÃ£o de Re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Resultados. Acompanhamento de custos operacionais e garantias.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ASSISTÊNCIA TÉCNICA &amp; SAC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42_dashboard_r_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[Assistência Técnica &amp; SAC]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R.A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de reclamaÃ§Ãµes, tempo de resposta e reputaÃ§Ã£o no Reclame Aqui.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0_dashboard_sac___assistencia_t__cni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[Assistência Técnica &amp; SAC]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SAC &amp; Assistencia TÃ©cnica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VisÃ£o geral de atendimentos, chamados SAC e produtividade da assistÃªncia tÃ©cnica.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ASSISTÊNCIA TÉCNICA &amp; SAC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47_dashboard_sac___assistencia_t__c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[Assistência Técnica &amp; SAC]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SAC &amp; Assistencia TÃ©cnica 2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Cockpit Executivo &amp; Operacional da Diretoria de AssistÃªncia TÃ©cnica &amp; SAC (VersÃ£o Web). Indicadores de WhatsApp/CRC, Fale Conos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7_dashboard_sac___assistencia_t__c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[Assistência Técnica &amp; SAC]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Demanda de Reabastecimento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Planejamento de reposiÃ§Ã£o e demanda de peÃ§as e componentes em estoque.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ASSISTÊNCIA TÉCNICA &amp; SAC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47_dashboard_sac___assistencia_t__c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[Assistência Técnica &amp; SAC]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Retorno de PeÃ§as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Controle e rastreamento de devoluÃ§Ã£o e retorno de peÃ§as para assistÃªncia tÃ©cnica.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7_dashboard_sac___assistencia_t__c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[Comercial &amp; Vendas]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AnÃ¡lise de RecorrÃªncia &amp; Recompra de Client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Ciclo de vida do cliente MQ, intervalo entre compras e retenÃ§Ã£o por canal de distribuiÃ§Ã£o.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COMERCIAL &amp; VENDAS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v_acumula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[Comercial &amp; Vendas]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Acumulado do Ano (YTD)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Histórico mensal de janeiro a dezembro com barras comparativas mês a mês, linha de corte de metas e velocímetros de fechamento con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Previsibilidade de faturamento anual e diagnóstico de sazonalidade comercial.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Time Series Analysis • Chart.js / SVG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v_categoria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[Comercial &amp; Vendas]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Categorias de Produtos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Análise de share e evolução de mix por linha: Pranchas, Secadores, Escovas Secadoras, Máquinas, Modeladores e Tesouras, com rankin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Visibilidade profunda de curva de produtos e direcionamento de campanhas promocionais.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Oracle Sankhya • Mix Modeling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COMERCIAL &amp; VENDAS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v_marca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[Comercial &amp; Vendas]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Marcas Corporativas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Distribuição de market share e crescimento das marcas do ecossistema: MQ Pro, Parlux, Force Barb, MQ Escovas, MQ Beauty e MQ Tesou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da estratégia multi-marcas e rentabilidade por linha de negócio.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Analytics • Brand Performance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v_pais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[Comercial &amp; Vendas]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Países &amp; COMEX (Visão Global)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Monitoramento de exportação e comércio exterior em 41 países. Análise de produto carro-chefe global, share de mercado 2025 x 2026 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Inteligência competitiva internacional e priorização de mercados globais em tempo real.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(COMEX) • CSS3 Glassmorphism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COMERCIAL &amp; VENDAS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v_todos_cana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[Comercial &amp; Vendas]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Performance Todos os Canais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Cockpit simultâneo de todos os canais de receita: Varejo SP, Varejo Regional, Distribuição, Comex, E-commerce MQ e E-commerce Parl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Visão 360º de todas as frentes de receita corporativa da companhia.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Multi-Channel Analytics • SQL Real-time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v_ger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[Comercial &amp; Vendas]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Performance de Vendas (Painel 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Cockpit executivo Full HD em tempo real transmitido nas TVs corporativas: acompanhamento de metas mensais, velocímetros de atingim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Engajamento imediato da equipe comercial e acompanhamento instantâneo da Diretoria sem custo de lice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Oracle Sankhya • HTML5 Canvas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COMERCIAL &amp; VENDAS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47_dashboard_sac___assistencia_t__c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[Comercial &amp; Vendas]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Painel de Performance Comercial &amp; Vendas B2B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Faturamento por regiÃ£o, margem por produto, ranking de clientes e curva ABC de vendas.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9_dir_dash_distribui____o_visao_ger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[Comex]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 DASH DISTRIBUIÃÃO VISAO GERAL- GESTOR -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DistribuiÃ§Ã£o e visÃ£o geral estratÃ©gica para gestores COMEX.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COMEX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47_dashboard_sac___assistencia_t__c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[Comex]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 DASH VISÃO COMEX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VisÃ£o consolidada de comÃ©rcio exterior, importaÃ§Ãµes e exportaÃ§Ãµes.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51_dir__cml__acomp__perf__produto_e_c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[Comex]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CML. ACOMP. PERF. PRODUTO E CANAL COMEX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comercial de performance por produto e canal COMEX.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COMEX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52_dir__dash__performance_equipes_c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[Comex]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DASH. PERFORMANCE EQUIPES COMEX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Indicadores de produtividade e performance operacional das equipes COMEX.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53_dir_cml__probabilidade_de_compras_-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[Comex]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DIR.CML. PROBABILIDADE DE COMPRAS - COMEX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Modelos preditivos e anÃ¡lise de probabilidade de compras COMEX.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COMEX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22_dre_comex_-_gest__o_de_resultad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[Comex]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Comex - GestÃ£o de Resultados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do ComÃ©rcio Exterior (Comex). Acompanhamento de faturamento lÃ­quido, margens e custos operacionais.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7_dashboard_sac___assistencia_t__cni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DASH. DESENV. PRODUTOS INDICADORES DE IMPORTA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Indicadores de importaÃ§Ã£o, lead time, custos e desembaraÃ§o de produtos.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DESENVOLVIMENTO DE PRODUTOS &amp; PROJETOS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47_dashboard_sac___assistencia_t__c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DASH. DIR. DESNV. PRODUTOS - NUBMETRICS 10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Dashboard executivo da Diretoria de Desenvolvimento de Produtos - Nubmetrics (versÃ£o 10).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72_dir__assistec__dashboard_forecast_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ASSISTEC. DASHBOARD FORECAST SPARE_PARTS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Forecast e projeÃ§Ã£o de demanda de peÃ§as de reposiÃ§Ã£o (Spare Parts) da AssistÃªncia TÃ©cnica.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DESENVOLVIMENTO DE PRODUTOS &amp; PROJETOS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73_dir__assistec__dashboard_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ASSISTEC. DASHBOARD RA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GestÃ£o de chamados, reputaÃ§Ã£o e Ã­ndices de atendimento no Reclame Aqui da AssistÃªncia TÃ©cnica.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7_dashboard_sac___assistencia_t__cni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DIR.CML ESTOQUE ATUAL CUSTO FINANCEIRO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Estoque atual e custo financeiro consolidado - Diretoria Comercial e Desenvolvimento.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DESENVOLVIMENTO DE PRODUTOS &amp; PROJETOS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47_dashboard_sac___assistencia_t__c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DIR.DASH. ANALISE MARGEM CUSTO GER vs5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AnÃ¡lise gerencial de margens, composiÃ§Ã£o de custos e rentabilidade de produtos.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69_dre_desenvolvimento_de_produto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Desenvolvimento de Produtos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do ExercÃ­cio (DRE) da linha de desenvolvimento de produtos e projetos.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DESENVOLVIMENTO DE PRODUTOS &amp; PROJETOS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70_dashboard_nubmetric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Nubmetrics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InteligÃªncia de mercado, vendas e posicionamento competitivo via Nubmetrics.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76_retorno_de_pe__as_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RETORNO DE PEÃAS.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Controle, Ã­ndices de retorno e conformidade de peÃ§as em garantia.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DESENVOLVIMENTO DE PRODUTOS &amp; PROJETOS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77_shopping_pre__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SHOPPING PREÃO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Comparativo dinÃ¢mico de preÃ§os de produtos no mercado (Shopping de PreÃ§o).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7_dashboard_sac___assistencia_t__cni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TESTE PREDITIVOS.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Painel de modelos preditivos e testes estatÃ­sticos para desenvolvimento de produtos.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47_dashboard_sac___assistencia_t__c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Cockpit Geral de Indicadores EstratÃ©gicos MQ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VisÃ£o macro corporativa com faturamento acumulado, pedidos totais e metas globais da empresa.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25_dre_consolidado_empres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Consolidado Empresa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Consolidado por Empresa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28_dre_gestores_____geral__diretoria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Gestores â Geral (Diretoria)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 do ExercÃ­cio - DRE Executivo e Gerencial de Gestores.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27_dashboard_nubmetrics_-_diretori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Nubmetrics - Diretoria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InteligÃªncia de mercado, anÃ¡lise de vendas e tabelas de indicadores competitivos Nubmetrics.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E-COMMERCE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19_dash__dir__desnv__produtos_-_nubm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[E-commerce]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DASH. DIR. DESNV. PRODUTOS - NUBMETRICS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InteligÃªncia competitiva, tendÃªncias de mercado e anÃ¡lise de produtos Nubmetrics.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7_dashboard_sac___assistencia_t__cni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[E-commerce]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CML. MKT. PLANO DE MIDIA 2026 -VS02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Planejamento e acompanhamento estratÃ©gico do plano de mÃ­dia de marketing e comercial 2026.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E-COMMERCE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47_dashboard_sac___assistencia_t__c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[E-commerce]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DASH. PERFORMANCE EQUIPES 2.0 ECOMMERCE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de metas, produtividade e performance da equipe de E-commerce 2.0.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6_dir_cml_ecommerce_vs_7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[E-commerce]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DIR.CML ECOMMERCE.VS 7.1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Painel da diretoria comercial e acompanhamento estratÃ©gico de vendas E-commerce VS 7.1.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E-COMMERCE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18_dre_e-commer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[E-commerce]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E-commerce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- E-commerce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8_portal_corporativo_____e-commer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[E-commerce]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Portal Corporativo â¢ E-Commerce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Cockpit executivo e acompanhamento diÃ¡rio de vendas, projeÃ§Ãµes e metas por canal: Mercado Livre, VTEX, Shopee, Magalu e Parlux.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FINANCEIRO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13_dre_gestores_____ger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[Financeiro]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Gestores â Geral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do ExercÃ­cio Consolidado MQ Professional (Diretoria e Gestores). Acompanhamento de faturamento, custo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6_acompanhamento_de_obriga____es_fis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[Fiscal]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Acompanhamento de ObrigaÃ§Ãµes Fiscais e SPED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Controle de prazos de entregas fiscais, conferÃªncia de XMLs e apuraÃ§Ã£o de tributos.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LOGÍSTICA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47_dashboard_sac___assistencia_t__c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[Logística]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Controle de Estoque &amp; Acuracidade (InventÃ¡ri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Dashboard do Gerente de LogÃ­stica: Acompanhamento de inventÃ¡rio fÃ­sico, conferÃªncia contra Kardex, acuracidade (IRA), divergÃª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7_dashboard_sac___assistencia_t__c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[Logística]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DEMANDA REABASTECIMENTO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DIR. DASH LOGISTICA DEMANDA REABASTECIMENTO: MÃ³dulo nativo conectado ao Oracle Sankhya com cÃ¡lculo de mÃ©dia de consumo, dias de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LOGÍSTICA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20_dre_log__stic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[Logística]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LogÃ­stica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- LogÃ­stica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7_dashboard_log__stica_____ciclo_do_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[Logística]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LogÃ­stica â Ciclo do Pedido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DIR. DASH LOGISTICA CICLO DO PEDIDO: Acompanhamento de todas as etapas do pedido, lead time de separaÃ§Ã£o, faturamento e expediÃ§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LOGÍSTICA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47_dashboard_sac___assistencia_t__c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[Logística]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LogÃ­stica â InventÃ¡rio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DIR.DASH LOGISTICA INVENTARIO: Acuracidade de armazÃ©m, inventÃ¡rio fÃ­sico rotativo x saldo contÃ¡bil, perdas e auditoria de posi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14_dre_rh_____recursos_humano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[RH]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RH â Recursos Humanos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do ExercÃ­cio â Centro de Custo RH (9010000). Acompanhamento de despesas e custos operacionais de Re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FSP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38_acompanhamento_diario_do_canal_-_f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ACOMPANHAMENTO DIARIO DO CANAL - FORA SP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DiÃ¡rio de Vendas, Marcas e YTD Fora 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37_dash__evolu____o_rede_e_prod__vis__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DASH. EVOLUÃÃO REDE E PROD. VISÃO GER. FOR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EvoluÃ§Ã£o de Redes, Parceiros e Produtos VisÃ£o Geral Fora 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FSP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36_dir_cml_dash__profundidade_-_mix_-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 CML DASH. PROFUNDIDADE - MIX - CARTEIRA F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Profundidade de Carteira e Mix de Produtos Fora 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34_dir__cml_dash__negocios_e_estrateg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CML DASH. NEGOCIOS E ESTRATEGIAS FORA SP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Painel Comercial de NegÃ³cios e EstratÃ©gias Regionais Fora 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FSP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35_dir__cml_varejo_especializado_ges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CML VAREJO ESPECIALIZADO GESTOR FORA SP 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GestÃ£o de Varejo Especializado, Parceiros e Curva ABC Fora 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7_dashboard_sac___assistencia_t__cni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CML. ACOMP. PERF. PRODUTO E CANAL - REG.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de Performance por Produto e Canal Regional FSP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FSP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32_dir__dash__performance_equipe_ger_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DASH. PERFORMANCE EQUIPE GER. REGIONAL F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Performance de Equipe, Metas e Faturamento Projetado Fora 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31_dre_mq_2_1_-_varejo_forasp_distribu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MQ.2.1 - VAREJO_FORASP_DISTRIBUICAO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DRE Varejo Fora SP &amp; DistribuiÃ§Ã£o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FSP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12_dre_regional_fsp_____gest__o_de_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Regional FSP â GestÃ£o de Resultados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da Regional FSP (DistribuiÃ§Ã£o 1020000, Varejo RJ 1010200, Varejo ND 1010300 e Varejo SUL 1010400). A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15_dashboard_nubmetric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Nubmetrics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InteligÃªncia de mercado, anÃ¡lise de vendas e indicadores competitivos Nubmetrics da Regional FSP.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FSP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47_dashboard_sac___assistencia_t__c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SELLOUT PROMOTOR VERSAO 1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e ApuraÃ§Ã£o de Sell-out de Promotores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7_dashboard_sac___assistencia_t__c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SHOPPING PREÃO 2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Price Tracking e Shopping de PreÃ§os - Regional Fora 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6_acompanhamento_de_obriga____es_fis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DASH. EVOLUÃÃO REDE E PROD. VISÃO  GER. RE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EvoluÃ§Ã£o de vendas da rede e de produtos com visÃ£o gerencial da Regional SP.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6_acompanhamento_de_obriga____es_fis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 CML DASH. PROFUNDIDADE - MIX- CARTEIRA RE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AnÃ¡lise profunda de mix de produtos, positivaÃ§Ã£o e carteira de clientes da Regional SP.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47_dashboard_sac___assistencia_t__c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CML  VAREJO ESPECIALIZADO GESTOR SP.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GestÃ£o e indicadores de vendas no canal Varejo Especializado da Regional SP.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7_dashboard_sac___assistencia_t__c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CML. ACOMP. PERF. PRODUTO E CANAL REG.SP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detalhado de performance por linha de produto e canal comercial.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23_dre_regional_sp_____gest__o_de_res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Regional SP â GestÃ£o de Resultados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do ExercÃ­cio (DRE) consolidado da Regional SP.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7_dashboard_sac___assistencia_t__cni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Guelta (AÃ§Ã£o Promocional AP)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InteligÃªncia executiva da campanha promocional Guelta (AP), vendas por loja, revendedora e produtos.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6_acompanhamento_de_obriga____es_fis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SELLOUT  PROMOTOR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Performance e acompanhamento do volume de sell-out registrado pelos promotores de vendas.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6_acompanhamento_de_obriga____es_fis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SHOPPING PREÃO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InteligÃªncia competitiva, monitoramento e comparativo de preÃ§os de mercado (Shopping PreÃ§o).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TI &amp; BI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6_acompanhamento_de_obriga____es_fis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[TI &amp; BI]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teste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EC2A6C01FC35B4C98F27BF80BD61D04" ma:contentTypeVersion="11" ma:contentTypeDescription="Crie um novo documento." ma:contentTypeScope="" ma:versionID="2907544e106569120cde375d2fd4e02d">
  <xsd:schema xmlns:xsd="http://www.w3.org/2001/XMLSchema" xmlns:xs="http://www.w3.org/2001/XMLSchema" xmlns:p="http://schemas.microsoft.com/office/2006/metadata/properties" xmlns:ns2="f7088b10-dfe3-4848-b29c-270b315469ff" xmlns:ns3="415d0f87-2af1-4d4c-b68e-7bef43811897" targetNamespace="http://schemas.microsoft.com/office/2006/metadata/properties" ma:root="true" ma:fieldsID="da9cd61046fd5c0494a31fe593fa3def" ns2:_="" ns3:_="">
    <xsd:import namespace="f7088b10-dfe3-4848-b29c-270b315469ff"/>
    <xsd:import namespace="415d0f87-2af1-4d4c-b68e-7bef4381189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088b10-dfe3-4848-b29c-270b315469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cab4244d-f499-41b9-8fad-4a9492403ec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5d0f87-2af1-4d4c-b68e-7bef43811897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eaaf60e-8694-456d-a452-90d36ffc2d32}" ma:internalName="TaxCatchAll" ma:showField="CatchAllData" ma:web="415d0f87-2af1-4d4c-b68e-7bef4381189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088b10-dfe3-4848-b29c-270b315469ff">
      <Terms xmlns="http://schemas.microsoft.com/office/infopath/2007/PartnerControls"/>
    </lcf76f155ced4ddcb4097134ff3c332f>
    <TaxCatchAll xmlns="415d0f87-2af1-4d4c-b68e-7bef43811897" xsi:nil="true"/>
  </documentManagement>
</p:properties>
</file>

<file path=customXml/itemProps1.xml><?xml version="1.0" encoding="utf-8"?>
<ds:datastoreItem xmlns:ds="http://schemas.openxmlformats.org/officeDocument/2006/customXml" ds:itemID="{E77C1CD7-65AE-4780-9B45-9869BFBCCCD5}"/>
</file>

<file path=customXml/itemProps2.xml><?xml version="1.0" encoding="utf-8"?>
<ds:datastoreItem xmlns:ds="http://schemas.openxmlformats.org/officeDocument/2006/customXml" ds:itemID="{0AC52C1F-B875-400E-B690-D3D3EE3D2846}"/>
</file>

<file path=customXml/itemProps3.xml><?xml version="1.0" encoding="utf-8"?>
<ds:datastoreItem xmlns:ds="http://schemas.openxmlformats.org/officeDocument/2006/customXml" ds:itemID="{FF360E65-079F-4936-B9D8-28E024AA3EFA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0x010100FEC2A6C01FC35B4C98F27BF80BD61D04</vt:lpwstr>
  </property>
</Properties>
</file>